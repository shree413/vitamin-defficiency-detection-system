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3856" autoAdjust="0"/>
  </p:normalViewPr>
  <p:slideViewPr>
    <p:cSldViewPr snapToGrid="0">
      <p:cViewPr varScale="1">
        <p:scale>
          <a:sx n="77" d="100"/>
          <a:sy n="77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36F49-06B7-4B5A-A442-C7C0B19FEBF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1E8C0-7D40-4DDE-8D73-E57059C80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09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E8C0-7D40-4DDE-8D73-E57059C8074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836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FDC9-5554-2911-D062-808C861BA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6267"/>
            <a:ext cx="11720052" cy="1052597"/>
          </a:xfrm>
        </p:spPr>
        <p:txBody>
          <a:bodyPr>
            <a:normAutofit/>
          </a:bodyPr>
          <a:lstStyle/>
          <a:p>
            <a:r>
              <a:rPr lang="en-IN" sz="4500" dirty="0"/>
              <a:t>Fabricated News Prediction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F7D1E1-5685-4BDE-7C1B-73AD28E1F2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90684" y="1876810"/>
            <a:ext cx="78043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Shrilakshmi A 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and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 Detection using AI/ML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41A996-AC56-48EA-B45D-E0CB78C9B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7148"/>
            <a:ext cx="12192000" cy="288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96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1352-72A4-B0F0-AF58-E771CA02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2" y="618517"/>
            <a:ext cx="5850193" cy="65967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                                              Introduction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0BC0F-5A47-D4E8-6E91-A8A08CDBA5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" y="2214694"/>
            <a:ext cx="7364360" cy="2671939"/>
          </a:xfrm>
        </p:spPr>
        <p:txBody>
          <a:bodyPr/>
          <a:lstStyle/>
          <a:p>
            <a:r>
              <a:rPr lang="en-US" dirty="0"/>
              <a:t>The rapid spread of misinformation on digital platforms has become a major problem. </a:t>
            </a:r>
          </a:p>
          <a:p>
            <a:r>
              <a:rPr lang="en-US" dirty="0"/>
              <a:t>It is difficult for people to distinguish between </a:t>
            </a:r>
            <a:r>
              <a:rPr lang="en-US" b="1" dirty="0"/>
              <a:t>real and fake news</a:t>
            </a:r>
            <a:r>
              <a:rPr lang="en-US" dirty="0"/>
              <a:t>. </a:t>
            </a:r>
          </a:p>
          <a:p>
            <a:r>
              <a:rPr lang="en-US" dirty="0"/>
              <a:t>Fake news spreads quickly through social media and online websites.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BDD74-2B3D-8B81-AD15-F9F27A429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317" y="0"/>
            <a:ext cx="4414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7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AC2B-C608-82B3-2B39-599081DE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781" y="618517"/>
            <a:ext cx="8200103" cy="1596177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6E459E-D672-B6F5-F013-C0FDB8B03B7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116826" y="2610889"/>
            <a:ext cx="70890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 is designed to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sensational and misleading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often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 linguistic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attract readers.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fake news manually is difficult. </a:t>
            </a:r>
          </a:p>
        </p:txBody>
      </p:sp>
    </p:spTree>
    <p:extLst>
      <p:ext uri="{BB962C8B-B14F-4D97-AF65-F5344CB8AC3E}">
        <p14:creationId xmlns:p14="http://schemas.microsoft.com/office/powerpoint/2010/main" val="412700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A4DE-8A19-4FAE-A25A-BFDDF0D15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8574354" cy="1596177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A6A204-0604-A9D5-C2D7-73FDDB027E6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369574" y="2712066"/>
            <a:ext cx="68039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fake news.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analyzes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features and metadata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automatically classifies news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or Fake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2412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072A-7E35-3F5A-69AA-E88D19A1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20" y="618517"/>
            <a:ext cx="2743200" cy="1596177"/>
          </a:xfrm>
        </p:spPr>
        <p:txBody>
          <a:bodyPr/>
          <a:lstStyle/>
          <a:p>
            <a:r>
              <a:rPr lang="en-US" b="1" dirty="0"/>
              <a:t>Dataset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B70C9-9D34-10D7-F41B-F91C713151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2367092"/>
            <a:ext cx="11277599" cy="3424107"/>
          </a:xfrm>
        </p:spPr>
        <p:txBody>
          <a:bodyPr/>
          <a:lstStyle/>
          <a:p>
            <a:r>
              <a:rPr lang="en-US" dirty="0"/>
              <a:t>Dataset contains </a:t>
            </a:r>
            <a:r>
              <a:rPr lang="en-US" b="1" dirty="0"/>
              <a:t>2000 news articles</a:t>
            </a:r>
            <a:r>
              <a:rPr lang="en-US" dirty="0"/>
              <a:t>. </a:t>
            </a:r>
          </a:p>
          <a:p>
            <a:r>
              <a:rPr lang="en-US" dirty="0"/>
              <a:t>Includes both </a:t>
            </a:r>
            <a:r>
              <a:rPr lang="en-US" b="1" dirty="0"/>
              <a:t>real and fabricated news samples</a:t>
            </a:r>
            <a:r>
              <a:rPr lang="en-US" dirty="0"/>
              <a:t>. </a:t>
            </a:r>
          </a:p>
          <a:p>
            <a:r>
              <a:rPr lang="en-US" dirty="0"/>
              <a:t>Used for </a:t>
            </a:r>
            <a:r>
              <a:rPr lang="en-US" b="1" dirty="0"/>
              <a:t>training and testing the ML models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406DD-9E56-F562-BDE6-7DB373682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962" y="0"/>
            <a:ext cx="5742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5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180E1-53EE-5FE3-2F7F-67ACDB11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18517"/>
            <a:ext cx="11278226" cy="1225031"/>
          </a:xfrm>
        </p:spPr>
        <p:txBody>
          <a:bodyPr/>
          <a:lstStyle/>
          <a:p>
            <a:r>
              <a:rPr lang="en-US" b="1" dirty="0"/>
              <a:t>Data Pre-processing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EEB9B-9ED3-4393-8E9D-A18011817E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9936" y="2367092"/>
            <a:ext cx="10687664" cy="3424107"/>
          </a:xfrm>
        </p:spPr>
        <p:txBody>
          <a:bodyPr/>
          <a:lstStyle/>
          <a:p>
            <a:r>
              <a:rPr lang="en-US" dirty="0"/>
              <a:t>Text converted to </a:t>
            </a:r>
            <a:r>
              <a:rPr lang="en-US" b="1" dirty="0"/>
              <a:t>lowercase</a:t>
            </a:r>
            <a:r>
              <a:rPr lang="en-US" dirty="0"/>
              <a:t>. </a:t>
            </a:r>
          </a:p>
          <a:p>
            <a:r>
              <a:rPr lang="en-US" b="1" dirty="0"/>
              <a:t>Special characters removed</a:t>
            </a:r>
            <a:r>
              <a:rPr lang="en-US" dirty="0"/>
              <a:t>. </a:t>
            </a:r>
          </a:p>
          <a:p>
            <a:r>
              <a:rPr lang="en-US" dirty="0"/>
              <a:t>Cleaned text improves model performance.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926DE-BF9D-B738-8916-3E2989C4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4452"/>
            <a:ext cx="12192000" cy="184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73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D849-13D5-1BF9-A30C-63BCE5D2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618517"/>
            <a:ext cx="5279923" cy="1596177"/>
          </a:xfrm>
        </p:spPr>
        <p:txBody>
          <a:bodyPr/>
          <a:lstStyle/>
          <a:p>
            <a:r>
              <a:rPr lang="en-US" b="1" dirty="0"/>
              <a:t>Feature Engineering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37BC-8812-0FB9-FABE-18D37567A0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2367092"/>
            <a:ext cx="7570840" cy="3424107"/>
          </a:xfrm>
        </p:spPr>
        <p:txBody>
          <a:bodyPr/>
          <a:lstStyle/>
          <a:p>
            <a:r>
              <a:rPr lang="en-US" dirty="0"/>
              <a:t>Custom features were extracted to identify fake news patterns:</a:t>
            </a:r>
          </a:p>
          <a:p>
            <a:r>
              <a:rPr lang="en-US" b="1" dirty="0"/>
              <a:t>Exclamation Count</a:t>
            </a:r>
            <a:r>
              <a:rPr lang="en-US" dirty="0"/>
              <a:t> – counts “!” marks </a:t>
            </a:r>
          </a:p>
          <a:p>
            <a:r>
              <a:rPr lang="en-US" b="1" dirty="0"/>
              <a:t>Sensational Word Count</a:t>
            </a:r>
            <a:r>
              <a:rPr lang="en-US" dirty="0"/>
              <a:t> – words like </a:t>
            </a:r>
            <a:r>
              <a:rPr lang="en-US" i="1" dirty="0"/>
              <a:t>Shocking, Urgent</a:t>
            </a:r>
            <a:r>
              <a:rPr lang="en-US" dirty="0"/>
              <a:t> </a:t>
            </a:r>
          </a:p>
          <a:p>
            <a:r>
              <a:rPr lang="en-US" b="1" dirty="0"/>
              <a:t>Uppercase Ratio</a:t>
            </a:r>
            <a:r>
              <a:rPr lang="en-US" dirty="0"/>
              <a:t> – detects excessive capital letters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C5265E-95F1-5C36-BE57-1CEEC3F9D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29" y="0"/>
            <a:ext cx="4837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52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A6BA-DF29-2285-ACE9-3C1F9A26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690" y="108155"/>
            <a:ext cx="7246375" cy="1474839"/>
          </a:xfrm>
        </p:spPr>
        <p:txBody>
          <a:bodyPr>
            <a:normAutofit/>
          </a:bodyPr>
          <a:lstStyle/>
          <a:p>
            <a:r>
              <a:rPr lang="en-US" b="1" dirty="0"/>
              <a:t>       Vectorization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132FD-96CD-452A-28AF-5D4A7160AA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77960" y="2367092"/>
            <a:ext cx="9399639" cy="3424107"/>
          </a:xfrm>
        </p:spPr>
        <p:txBody>
          <a:bodyPr/>
          <a:lstStyle/>
          <a:p>
            <a:r>
              <a:rPr lang="en-US" dirty="0"/>
              <a:t>Used </a:t>
            </a:r>
            <a:r>
              <a:rPr lang="en-US" b="1" dirty="0"/>
              <a:t>TF-IDF (Term Frequency – Inverse Document Frequency)</a:t>
            </a:r>
            <a:r>
              <a:rPr lang="en-US" dirty="0"/>
              <a:t>. </a:t>
            </a:r>
          </a:p>
          <a:p>
            <a:r>
              <a:rPr lang="en-US" dirty="0"/>
              <a:t>Converts text data into </a:t>
            </a:r>
            <a:r>
              <a:rPr lang="en-US" b="1" dirty="0"/>
              <a:t>numerical vectors</a:t>
            </a:r>
            <a:r>
              <a:rPr lang="en-US" dirty="0"/>
              <a:t>. </a:t>
            </a:r>
          </a:p>
          <a:p>
            <a:r>
              <a:rPr lang="en-US" dirty="0"/>
              <a:t>These vectors are used by Machine Learning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14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6F31-39B3-2F8B-C7FD-9D7870041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981" y="1"/>
            <a:ext cx="7639664" cy="1300290"/>
          </a:xfrm>
        </p:spPr>
        <p:txBody>
          <a:bodyPr/>
          <a:lstStyle/>
          <a:p>
            <a:r>
              <a:rPr lang="en-US" b="1" dirty="0"/>
              <a:t>Model Comparison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9D384-4333-0461-A22E-0283D5DF86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1626" y="1012724"/>
            <a:ext cx="7855974" cy="4778476"/>
          </a:xfrm>
        </p:spPr>
        <p:txBody>
          <a:bodyPr/>
          <a:lstStyle/>
          <a:p>
            <a:r>
              <a:rPr lang="en-US" dirty="0"/>
              <a:t>Machine Learning models used:</a:t>
            </a:r>
          </a:p>
          <a:p>
            <a:r>
              <a:rPr lang="en-US" dirty="0"/>
              <a:t>Logistic Regression </a:t>
            </a:r>
          </a:p>
          <a:p>
            <a:r>
              <a:rPr lang="en-US" dirty="0"/>
              <a:t>Random Forest </a:t>
            </a:r>
          </a:p>
          <a:p>
            <a:r>
              <a:rPr lang="en-US" dirty="0"/>
              <a:t>Support Vector Machine (SVM)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9AE5B5-53A0-63AF-BF0A-B118865A5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7366"/>
            <a:ext cx="12192000" cy="381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46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C9F4-E87C-3988-2FD7-701DE68F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0"/>
            <a:ext cx="11454581" cy="983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787BF-84AE-3BE7-53C3-EBA86E6A09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56619" y="1111045"/>
            <a:ext cx="11110452" cy="1229032"/>
          </a:xfrm>
        </p:spPr>
        <p:txBody>
          <a:bodyPr/>
          <a:lstStyle/>
          <a:p>
            <a:r>
              <a:rPr lang="en-US" dirty="0"/>
              <a:t>Logistic Regression achieved </a:t>
            </a:r>
            <a:r>
              <a:rPr lang="en-US" b="1" dirty="0"/>
              <a:t>highest accuracy (near 100%)</a:t>
            </a:r>
            <a:r>
              <a:rPr lang="en-US" dirty="0"/>
              <a:t>. </a:t>
            </a:r>
          </a:p>
          <a:p>
            <a:r>
              <a:rPr lang="en-US" dirty="0"/>
              <a:t>Model successfully classified </a:t>
            </a:r>
            <a:r>
              <a:rPr lang="en-US" b="1" dirty="0"/>
              <a:t>real and fake news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05630-E22A-5B42-8FBC-6C2AB3635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0076"/>
            <a:ext cx="12192000" cy="451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21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01D2-9A87-AE41-7982-C4A44DEC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-353961"/>
            <a:ext cx="9115128" cy="1691149"/>
          </a:xfrm>
        </p:spPr>
        <p:txBody>
          <a:bodyPr>
            <a:normAutofit/>
          </a:bodyPr>
          <a:lstStyle/>
          <a:p>
            <a:r>
              <a:rPr lang="en-US" b="1" dirty="0"/>
              <a:t>ROC Curve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F1C0B-B33A-A24A-1FB9-0ED4B36D0B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5510" y="983227"/>
            <a:ext cx="9842090" cy="1091380"/>
          </a:xfrm>
        </p:spPr>
        <p:txBody>
          <a:bodyPr/>
          <a:lstStyle/>
          <a:p>
            <a:r>
              <a:rPr lang="en-US" dirty="0"/>
              <a:t>ROC curve shows </a:t>
            </a:r>
            <a:r>
              <a:rPr lang="en-US" b="1" dirty="0"/>
              <a:t>model performance and classification ability</a:t>
            </a:r>
            <a:r>
              <a:rPr lang="en-US" dirty="0"/>
              <a:t>. </a:t>
            </a:r>
          </a:p>
          <a:p>
            <a:r>
              <a:rPr lang="en-US" dirty="0"/>
              <a:t>Confirms the </a:t>
            </a:r>
            <a:r>
              <a:rPr lang="en-US" b="1" dirty="0"/>
              <a:t>high prediction accuracy</a:t>
            </a:r>
            <a:r>
              <a:rPr lang="en-US" dirty="0"/>
              <a:t> of the system.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06F283-885C-C594-FEBF-22670792A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1755"/>
            <a:ext cx="12192000" cy="461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69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1D60-FBAD-50BC-F836-033D6704C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-139148"/>
            <a:ext cx="8931966" cy="1361661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337F2-A197-91CC-806E-E167694C58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16426" y="824949"/>
            <a:ext cx="9061174" cy="2007704"/>
          </a:xfrm>
        </p:spPr>
        <p:txBody>
          <a:bodyPr/>
          <a:lstStyle/>
          <a:p>
            <a:r>
              <a:rPr lang="en-US" dirty="0"/>
              <a:t>The system successfully detects </a:t>
            </a:r>
            <a:r>
              <a:rPr lang="en-US" b="1" dirty="0"/>
              <a:t>fabricated news</a:t>
            </a:r>
            <a:r>
              <a:rPr lang="en-US" dirty="0"/>
              <a:t>. </a:t>
            </a:r>
          </a:p>
          <a:p>
            <a:r>
              <a:rPr lang="en-US" dirty="0"/>
              <a:t>It uses </a:t>
            </a:r>
            <a:r>
              <a:rPr lang="en-US" b="1" dirty="0"/>
              <a:t>linguistic features and machine learning techniques</a:t>
            </a:r>
            <a:r>
              <a:rPr lang="en-US" dirty="0"/>
              <a:t>. </a:t>
            </a:r>
          </a:p>
          <a:p>
            <a:r>
              <a:rPr lang="en-US" dirty="0"/>
              <a:t>Helps in reducing the spread of misinformation.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1FD160-052E-DAE6-3519-64AF22B15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683565"/>
            <a:ext cx="12192000" cy="419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03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0FB45-9C1A-2D8B-7915-2BAF40CC6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3375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72</TotalTime>
  <Words>315</Words>
  <Application>Microsoft Office PowerPoint</Application>
  <PresentationFormat>Widescreen</PresentationFormat>
  <Paragraphs>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Tw Cen MT</vt:lpstr>
      <vt:lpstr>Droplet</vt:lpstr>
      <vt:lpstr>Fabricated News Prediction System</vt:lpstr>
      <vt:lpstr>                                                   Introduction </vt:lpstr>
      <vt:lpstr>Problem Statement</vt:lpstr>
      <vt:lpstr>Objective</vt:lpstr>
      <vt:lpstr>Dataset </vt:lpstr>
      <vt:lpstr>Data Pre-processing </vt:lpstr>
      <vt:lpstr>Feature Engineering </vt:lpstr>
      <vt:lpstr>       Vectorization </vt:lpstr>
      <vt:lpstr>Model Comparison </vt:lpstr>
      <vt:lpstr>Results </vt:lpstr>
      <vt:lpstr>ROC Curve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shrilakshmi a s</dc:creator>
  <cp:lastModifiedBy>shrilakshmi a s</cp:lastModifiedBy>
  <cp:revision>1</cp:revision>
  <dcterms:created xsi:type="dcterms:W3CDTF">2026-04-01T13:14:12Z</dcterms:created>
  <dcterms:modified xsi:type="dcterms:W3CDTF">2026-04-01T14:26:17Z</dcterms:modified>
</cp:coreProperties>
</file>